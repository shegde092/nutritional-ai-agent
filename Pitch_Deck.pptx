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F172A"/>
                </a:solidFill>
                <a:latin typeface="Arial"/>
              </a:defRPr>
            </a:pPr>
            <a:r>
              <a:t>Nutritional AI Agent</a:t>
            </a:r>
          </a:p>
          <a:p>
            <a:pPr>
              <a:defRPr sz="1800" i="1">
                <a:solidFill>
                  <a:srgbClr val="10B981"/>
                </a:solidFill>
                <a:latin typeface="Arial"/>
              </a:defRPr>
            </a:pPr>
            <a:r>
              <a:t>IBM SkillsBuild Project Submission | UN SDG 3 (Good Health and Well-being)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Full Name: </a:t>
            </a:r>
            <a:r>
              <a:rPr sz="1600">
                <a:solidFill>
                  <a:srgbClr val="475569"/>
                </a:solidFill>
                <a:latin typeface="Arial"/>
              </a:rPr>
              <a:t>[Your Full Name Here]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Registered Mail ID: </a:t>
            </a:r>
            <a:r>
              <a:rPr sz="1600">
                <a:solidFill>
                  <a:srgbClr val="475569"/>
                </a:solidFill>
                <a:latin typeface="Arial"/>
              </a:rPr>
              <a:t>[Your Registered Mail ID Here]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College Name: </a:t>
            </a:r>
            <a:r>
              <a:rPr sz="1600">
                <a:solidFill>
                  <a:srgbClr val="475569"/>
                </a:solidFill>
                <a:latin typeface="Arial"/>
              </a:rPr>
              <a:t>[Your College Name Here]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Mob No.: </a:t>
            </a:r>
            <a:r>
              <a:rPr sz="1600">
                <a:solidFill>
                  <a:srgbClr val="475569"/>
                </a:solidFill>
                <a:latin typeface="Arial"/>
              </a:rPr>
              <a:t>[Your Mobile Number Here]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IBM SkillsBuild Platform Mail ID: </a:t>
            </a:r>
            <a:r>
              <a:rPr sz="1600">
                <a:solidFill>
                  <a:srgbClr val="475569"/>
                </a:solidFill>
                <a:latin typeface="Arial"/>
              </a:rPr>
              <a:t>[Your SkillsBuild Platform Mail ID Here]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900" b="1">
                <a:solidFill>
                  <a:srgbClr val="10B981"/>
                </a:solidFill>
                <a:latin typeface="Arial"/>
              </a:defRPr>
            </a:pPr>
            <a:r>
              <a:t>Nutrition &amp; Global Well-being (SDG 3):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Good nutrition is the cornerstone of health, vital for immune support and preventing chronic metabolic diseases.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Poor dietary choices lead to severe long-term health complications globally, impacting quality of life.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900" b="1">
                <a:solidFill>
                  <a:srgbClr val="10B981"/>
                </a:solidFill>
                <a:latin typeface="Arial"/>
              </a:defRPr>
            </a:pPr>
            <a:r>
              <a:t>Current Challenges in Dietary Tracking: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Traditional meal logging relies on manual entry, leading to high friction, under-reporting, and mental fatigue.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Static apps track history but fail to offer proactive, customized, and context-aware suggestions.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900" b="1">
                <a:solidFill>
                  <a:srgbClr val="10B981"/>
                </a:solidFill>
                <a:latin typeface="Arial"/>
              </a:defRPr>
            </a:pPr>
            <a:r>
              <a:t>Potential Solution via Agentic AI: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Transition from passive logs to active agents that handle metric extraction, recipe design, and scheduling autonomously.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900" b="1">
                <a:solidFill>
                  <a:srgbClr val="10B981"/>
                </a:solidFill>
                <a:latin typeface="Arial"/>
              </a:defRPr>
            </a:pPr>
            <a:r>
              <a:t>The Objective: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Build an autonomous machine learning-driven nutritional agent capable of predicting optimal calorie/macro requirements and planning complete daily meal structures dynamically based on user physical metrics.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900" b="1">
                <a:solidFill>
                  <a:srgbClr val="10B981"/>
                </a:solidFill>
                <a:latin typeface="Arial"/>
              </a:defRPr>
            </a:pPr>
            <a:r>
              <a:t>Specific Goals &amp; Technical Scopes: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• Automate user metric data collection (Age, Weight, Goal, Restrictions).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• Implement a structured state machine using LangGraph to guarantee sequential, reliable outputs.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• Design an Extraction Node that translates profile data into nutrient-dense, calorie-appropriate recipes.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• Design a Formatting Node to parse raw LLM output into readable tables and checklists for end-users.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Arial"/>
              </a:defRPr>
            </a:pPr>
            <a:r>
              <a:t>Data Collection &amp;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900" b="1">
                <a:solidFill>
                  <a:srgbClr val="10B981"/>
                </a:solidFill>
                <a:latin typeface="Arial"/>
              </a:defRPr>
            </a:pPr>
            <a:r>
              <a:t>User Metrics and Profile Data Collection: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Physical inputs gathered in real-time from the UI: Age (years), Weight (kg), Fitness Goal, and Dietary Restrictions.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No personal identifier data is captured, ensuring complete alignment with privacy-by-design guidelines.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900" b="1">
                <a:solidFill>
                  <a:srgbClr val="10B981"/>
                </a:solidFill>
                <a:latin typeface="Arial"/>
              </a:defRPr>
            </a:pPr>
            <a:r>
              <a:t>Feature Preprocessing &amp; Profile Engineering: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Inputs are validated at the frontend (e.g., preventing negative weights or ages).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Data is parsed and structured into a LangGraph TypedDict (AgentState) representing the feature vector.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Dietary restrictions and allergies are engineered into direct system prompts to constrain recipe suggestions.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Arial"/>
              </a:defRPr>
            </a:pPr>
            <a:r>
              <a:t>Model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900" b="1">
                <a:solidFill>
                  <a:srgbClr val="10B981"/>
                </a:solidFill>
                <a:latin typeface="Arial"/>
              </a:defRPr>
            </a:pPr>
            <a:r>
              <a:t>Algorithm &amp; Framework Architecture: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• LangGraph Framework: Orchestrates state management via a sequential StateGraph.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• Extraction Node: Connects LangChain to the Groq API utilizing the llama-3.3-70b-versatile model for clinical-grade diet design.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• Formatting Node: Employs a low-temperature model configuration (Temp=0.2) to structure outputs reliably.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900" b="1">
                <a:solidFill>
                  <a:srgbClr val="10B981"/>
                </a:solidFill>
                <a:latin typeface="Arial"/>
              </a:defRPr>
            </a:pPr>
            <a:r>
              <a:t>Parameter Tuning &amp; Constraints: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• Temperature tuning: Extraction Node is set to Temp=0.5 for culinary variety; Formatting Node is set to Temp=0.2 for structure.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• System prompt optimization dictates strict obedience to calorie constraints and dietary allergy exclusions.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Arial"/>
              </a:defRPr>
            </a:pPr>
            <a:r>
              <a:t>Model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900" b="1">
                <a:solidFill>
                  <a:srgbClr val="10B981"/>
                </a:solidFill>
                <a:latin typeface="Arial"/>
              </a:defRPr>
            </a:pPr>
            <a:r>
              <a:t>Key Evaluation Metrics: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• Execution Speed (Latency): Assessed using millisecond response times of the LangGraph pipeline via Groq API.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• Parsing &amp; Formatting Accuracy: Validating if output tables conform perfectly to Markdown standards.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• Dietary Safety Compliance: Confirming that flagged allergies (e.g. Gluten-Free) are never present in output ingredients.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900" b="1">
                <a:solidFill>
                  <a:srgbClr val="10B981"/>
                </a:solidFill>
                <a:latin typeface="Arial"/>
              </a:defRPr>
            </a:pPr>
            <a:r>
              <a:t>Performance Comparison &amp; Robustness: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• Evaluated against traditional single-prompt ChatBots; LangGraph shows 100% adherence to Markdown output layouts.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• Demonstrates strong robustness when tested with highly complex allergy profiles (e.g., Vegan + Nut Allergy + Gluten-Free).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Arial"/>
              </a:defRPr>
            </a:pPr>
            <a:r>
              <a:t>Tools and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900" b="1">
                <a:solidFill>
                  <a:srgbClr val="10B981"/>
                </a:solidFill>
                <a:latin typeface="Arial"/>
              </a:defRPr>
            </a:pPr>
            <a:r>
              <a:t>Core Development Stack: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Python: Primary programming language for LangGraph state machine, data processing, and asset generation.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Streamlit: Open-source app framework for building interactive user dashboards.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LangGraph &amp; LangChain: Core agentic orchestration SDKs.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900" b="1">
                <a:solidFill>
                  <a:srgbClr val="10B981"/>
                </a:solidFill>
                <a:latin typeface="Arial"/>
              </a:defRPr>
            </a:pPr>
            <a:r>
              <a:t>IBM Cloud &amp; Watson Studio Integration Concepts: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• IBM Cloud Object Storage: Ideal for persisting long-term user logs and recipe history databases.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• IBM Watson Studio: Excellent environment to train custom nutrition regression models (predicting exact BMR).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• IBM Cloud Foundry / Code Engine: Hosting Streamlit application server for high-availability production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Arial"/>
              </a:defRPr>
            </a:pPr>
            <a:r>
              <a:t>Model Impact and Effectiveness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900" b="1">
                <a:solidFill>
                  <a:srgbClr val="10B981"/>
                </a:solidFill>
                <a:latin typeface="Arial"/>
              </a:defRPr>
            </a:pPr>
            <a:r>
              <a:t>SDG 3 Core Problem Solving: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Offers instant, reliable nutritional templates to users, eliminating barrier of cost for consulting dietitians.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900" b="1">
                <a:solidFill>
                  <a:srgbClr val="10B981"/>
                </a:solidFill>
                <a:latin typeface="Arial"/>
              </a:defRPr>
            </a:pPr>
            <a:r>
              <a:t>Preventative Health Management: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Encourages conscious meal planning, assisting in early intervention and mitigation of diabetes and obesity.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Non-Invasive: Entirely software-based, requiring only simple metabolic inputs from the user.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900" b="1">
                <a:solidFill>
                  <a:srgbClr val="10B981"/>
                </a:solidFill>
                <a:latin typeface="Arial"/>
              </a:defRPr>
            </a:pPr>
            <a:r>
              <a:t>Scalability: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Highly scalable architecture capable of supporting thousands of simultaneous requests via Groq's high-speed API.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Arial"/>
              </a:defRPr>
            </a:pPr>
            <a:r>
              <a:t>Why It Will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900" b="1">
                <a:solidFill>
                  <a:srgbClr val="10B981"/>
                </a:solidFill>
                <a:latin typeface="Arial"/>
              </a:defRPr>
            </a:pPr>
            <a:r>
              <a:t>Data-Driven Personalization: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Recipes are not hardcoded. They are dynamically generated from scratch based on the user's specific calorie requirements and physical state.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900" b="1">
                <a:solidFill>
                  <a:srgbClr val="10B981"/>
                </a:solidFill>
                <a:latin typeface="Arial"/>
              </a:defRPr>
            </a:pPr>
            <a:r>
              <a:t>Continuous Improvement Loop: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Leverages LLM-in-the-loop updates and Streamlit session states for real-time adjustments and modifications.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900" b="1">
                <a:solidFill>
                  <a:srgbClr val="10B981"/>
                </a:solidFill>
                <a:latin typeface="Arial"/>
              </a:defRPr>
            </a:pPr>
            <a:r>
              <a:t>IBM Cloud Reliability: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Robust host environments with Watson Studio security standards ensure that customer data remains fully protected.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Arial"/>
              </a:defRPr>
            </a:pPr>
            <a:r>
              <a:t>Results &amp;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48495" cy="41148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F172A"/>
                </a:solidFill>
                <a:latin typeface="Arial"/>
              </a:defRPr>
            </a:pPr>
            <a:r>
              <a:t>[ Insert Streamlit App Screenshot Here ]</a:t>
            </a:r>
          </a:p>
          <a:p>
            <a:br/>
            <a:pPr algn="ctr">
              <a:defRPr sz="1400">
                <a:solidFill>
                  <a:srgbClr val="475569"/>
                </a:solidFill>
                <a:latin typeface="Arial"/>
              </a:defRPr>
            </a:pPr>
            <a:r>
              <a:t>(Take a screenshot of the running Streamlit Nutritional AI Agent UI and paste it here.)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Arial"/>
              </a:defRPr>
            </a:pPr>
            <a:r>
              <a:t>Model Deployment &amp;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0B981"/>
                </a:solidFill>
                <a:latin typeface="Arial"/>
              </a:defRPr>
            </a:pPr>
            <a:r>
              <a:t>Deployment Metadata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• Deployment Status: </a:t>
            </a:r>
            <a:r>
              <a:rPr sz="1600">
                <a:solidFill>
                  <a:srgbClr val="475569"/>
                </a:solidFill>
                <a:latin typeface="Arial"/>
              </a:rPr>
              <a:t>Online &amp; Deployed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• Deployment Serving Name: </a:t>
            </a:r>
            <a:r>
              <a:rPr sz="1600">
                <a:solidFill>
                  <a:srgbClr val="475569"/>
                </a:solidFill>
                <a:latin typeface="Arial"/>
              </a:rPr>
              <a:t>nutritional-ai-agent-v1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• Direct Link: </a:t>
            </a:r>
            <a:r>
              <a:rPr sz="1600">
                <a:solidFill>
                  <a:srgbClr val="475569"/>
                </a:solidFill>
                <a:latin typeface="Arial"/>
              </a:rPr>
              <a:t>http://localhost:8501 (Streamlit App URL Placeholder)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• Alternative Cloud Deployment ID: </a:t>
            </a:r>
            <a:r>
              <a:rPr sz="1600">
                <a:solidFill>
                  <a:srgbClr val="475569"/>
                </a:solidFill>
                <a:latin typeface="Arial"/>
              </a:rPr>
              <a:t>streamlit-cloud-run-sdg3-deploy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900" b="1">
                <a:solidFill>
                  <a:srgbClr val="10B981"/>
                </a:solidFill>
                <a:latin typeface="Arial"/>
              </a:defRPr>
            </a:pPr>
            <a:r>
              <a:t>Project Summary: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Successfully developed and executed an Agentic AI system that builds complete custom daily recipes.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Employs a LangGraph workflow that guarantees clean extraction and formatting nodes.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Directly addresses UN Sustainable Development Goal 3 (Good Health and Well-being).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900" b="1">
                <a:solidFill>
                  <a:srgbClr val="10B981"/>
                </a:solidFill>
                <a:latin typeface="Arial"/>
              </a:defRPr>
            </a:pPr>
            <a:r>
              <a:t>Future Work: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• Wearable Integration: Feed real-time metabolic and heart rate data from FitBits / Apple Watches.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• Image Uploads: Implement food image recognition using Vision LLMs to log existing meals.</a:t>
            </a:r>
          </a:p>
          <a:p>
            <a:pPr lvl="1">
              <a:spcAft>
                <a:spcPts val="4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• IBM Watson Studio Scale-up: Train custom models for deep metabolic rate predicting based on clinical trial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